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0" y="-1463040"/>
            <a:ext cx="6035040" cy="6035040"/>
          </a:xfrm>
          <a:prstGeom prst="ellipse">
            <a:avLst/>
          </a:prstGeom>
          <a:solidFill>
            <a:srgbClr val="16405F"/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-640080"/>
            <a:ext cx="4389120" cy="4389120"/>
          </a:xfrm>
          <a:prstGeom prst="ellipse">
            <a:avLst/>
          </a:prstGeom>
          <a:solidFill>
            <a:srgbClr val="0F2A43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0" y="91440"/>
            <a:ext cx="2926080" cy="2926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0" y="9144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685800" y="126187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11612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ASEGURAMIENTO DE LA CALIDAD DEL SOFTWARE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Informe de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Pruebas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 pedidos · Pruebas funcionales, de seguridad y de rendimiento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297680"/>
            <a:ext cx="36576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4348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Angie Aguilar Alemán      Jonathan Sancho Loaiza
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Jeremy Montero Araya      Dereck Cuadra González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85800" y="54406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Costa Rica · Ingeniería en Computación · I Semestre 2026 · Prof. Marcos Rodríguez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INFORME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6309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resultados que verifica, con evidencia objetiva, si el sistema cumple los estándares de calidad requeridos antes de su entrega. A diferencia del plan de pruebas, no describe la estrategia: se enfoca en los hallazgos de la ejecución.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3392424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64845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 esperado de los flujos principales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3232" y="4169664"/>
            <a:ext cx="457200" cy="457200"/>
          </a:xfrm>
          <a:prstGeom prst="ellipse">
            <a:avLst/>
          </a:prstGeom>
          <a:solidFill>
            <a:srgbClr val="16405F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4169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442569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 identificadas en la aplicación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4946904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20293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 bajo carga concurrente (k6)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98080" y="1783080"/>
            <a:ext cx="3977640" cy="4023360"/>
          </a:xfrm>
          <a:prstGeom prst="roundRect">
            <a:avLst>
              <a:gd name="adj" fmla="val 2299"/>
            </a:avLst>
          </a:prstGeom>
          <a:solidFill>
            <a:srgbClr val="0F2A43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0" y="2148840"/>
            <a:ext cx="3977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8600" dirty="0"/>
          </a:p>
        </p:txBody>
      </p:sp>
      <p:sp>
        <p:nvSpPr>
          <p:cNvPr id="24" name="Text 22"/>
          <p:cNvSpPr/>
          <p:nvPr/>
        </p:nvSpPr>
        <p:spPr>
          <a:xfrm>
            <a:off x="7498080" y="34290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ejecutados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412480" y="3977640"/>
            <a:ext cx="2148840" cy="0"/>
          </a:xfrm>
          <a:prstGeom prst="line">
            <a:avLst/>
          </a:prstGeom>
          <a:noFill/>
          <a:ln w="12700">
            <a:solidFill>
              <a:srgbClr val="1640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416052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
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 ·  Postman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521208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local de desarrollo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Alcance y metodología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60 casos se agrupan en tres categorías, cada una con su criterio de aceptación. Toda la evidencia fue recopilada de forma objetiva mediante Postman y k6.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2697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76200" dist="25400" dir="5400000">
              <a:srgbClr val="BBC9CE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697480"/>
            <a:ext cx="82296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80720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68680" y="34472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7216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módulos · Postman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34256" y="26974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76200" dist="25400" dir="5400000">
              <a:srgbClr val="BBC9CE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34256" y="2697480"/>
            <a:ext cx="82296" cy="1417320"/>
          </a:xfrm>
          <a:prstGeom prst="rect">
            <a:avLst/>
          </a:prstGeom>
          <a:solidFill>
            <a:srgbClr val="16405F"/>
          </a:solidFill>
          <a:ln/>
        </p:spPr>
      </p:sp>
      <p:sp>
        <p:nvSpPr>
          <p:cNvPr id="17" name="Text 15"/>
          <p:cNvSpPr/>
          <p:nvPr/>
        </p:nvSpPr>
        <p:spPr>
          <a:xfrm>
            <a:off x="4517136" y="280720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40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517136" y="34472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seguridad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17136" y="3721608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categorías · Postman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982712" y="2697480"/>
            <a:ext cx="349300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76200" dist="25400" dir="5400000">
              <a:srgbClr val="BBC9CE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82712" y="2697480"/>
            <a:ext cx="82296" cy="1417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8165592" y="2807208"/>
            <a:ext cx="32186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165592" y="3447288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de rendimiento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65592" y="3721608"/>
            <a:ext cx="32186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y estrés · k6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4526280"/>
            <a:ext cx="10789920" cy="1371600"/>
          </a:xfrm>
          <a:prstGeom prst="roundRect">
            <a:avLst>
              <a:gd name="adj" fmla="val 6667"/>
            </a:avLst>
          </a:prstGeom>
          <a:solidFill>
            <a:srgbClr val="E6F0F1"/>
          </a:solidFill>
          <a:ln w="12700">
            <a:solidFill>
              <a:srgbClr val="CFE8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48920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920240" y="4800600"/>
            <a:ext cx="9235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aceptación
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estableció un mínimo del 80% de aprobación por módulo. Resultado de rendimiento bajo entorno local: puede diferir en producción.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Aprobación por módulo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6995160" cy="914400"/>
        </p:xfrm>
        <a:graphic>
          <a:graphicData uri="http://schemas.openxmlformats.org/drawingml/2006/table">
            <a:tbl>
              <a:tblPr/>
              <a:tblGrid>
                <a:gridCol w="3703320"/>
                <a:gridCol w="1783080"/>
                <a:gridCol w="15087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Aprobación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Validaciones generales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y Login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Funciones de Administrador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de Pedidos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9B1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REPROBADO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046720" y="1828800"/>
            <a:ext cx="3429000" cy="3291840"/>
          </a:xfrm>
          <a:prstGeom prst="roundRect">
            <a:avLst>
              <a:gd name="adj" fmla="val 2778"/>
            </a:avLst>
          </a:prstGeom>
          <a:solidFill>
            <a:srgbClr val="0F2A43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2148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global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0" y="2514600"/>
            <a:ext cx="3429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81.6%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8046720" y="379476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Cumple el umbral del 80%,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con calidad heterogénea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módulos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4983480"/>
            <a:ext cx="6995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casos en 4 módulos · umbral del 80%.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Pedidos queda muy por debajo (54.5%) porque varias operaciones del backend no fueron expuestas en el frontend del usuario regular.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funcionales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874520"/>
            <a:ext cx="82296" cy="1234440"/>
          </a:xfrm>
          <a:prstGeom prst="rect">
            <a:avLst/>
          </a:prstGeom>
          <a:solidFill>
            <a:srgbClr val="3FA34D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2221992"/>
            <a:ext cx="548640" cy="548640"/>
          </a:xfrm>
          <a:prstGeom prst="ellipse">
            <a:avLst/>
          </a:prstGeom>
          <a:solidFill>
            <a:srgbClr val="3FA34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205740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validaciones, sólidas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245973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Registro/Login, Administrador y Validaciones superan el umbral. Buen manejo de códigos HTTP, JSON y actualización de perfil.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24612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246120"/>
            <a:ext cx="82296" cy="1234440"/>
          </a:xfrm>
          <a:prstGeom prst="rect">
            <a:avLst/>
          </a:prstGeom>
          <a:solidFill>
            <a:srgbClr val="9B1B30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3593592"/>
            <a:ext cx="548640" cy="548640"/>
          </a:xfrm>
          <a:prstGeom prst="ellipse">
            <a:avLst/>
          </a:prstGeom>
          <a:solidFill>
            <a:srgbClr val="9B1B30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5935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91640" y="342900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Pedidos: atención prioritaria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383133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la mitad de los casos falla: operaciones disponibles en el backend pero no habilitadas en el frontend del usuario regular.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61772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617720"/>
            <a:ext cx="82296" cy="1234440"/>
          </a:xfrm>
          <a:prstGeom prst="rect">
            <a:avLst/>
          </a:prstGeom>
          <a:solidFill>
            <a:srgbClr val="E0851E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" y="4965192"/>
            <a:ext cx="548640" cy="548640"/>
          </a:xfrm>
          <a:prstGeom prst="ellipse">
            <a:avLst/>
          </a:prstGeom>
          <a:solidFill>
            <a:srgbClr val="E0851E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965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691640" y="480060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usabilidad (TC-33 / TC-34)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691640" y="520293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mensajes de confirmación al ejecutar acciones destructivas como eliminar usuarios o pedidos.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16405F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SEGURIDAD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Aprobación por categoría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28800"/>
          <a:ext cx="74066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77240"/>
                <a:gridCol w="777240"/>
                <a:gridCol w="777240"/>
                <a:gridCol w="1051560"/>
                <a:gridCol w="10058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Aprob.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acceso y autenticación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de seguridad HTTP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085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Protección contra inyección y XSS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1B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REPROBADO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1B3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58200" y="182880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0F2A43"/>
          </a:solidFill>
          <a:ln/>
        </p:spPr>
      </p:sp>
      <p:sp>
        <p:nvSpPr>
          <p:cNvPr id="11" name="Text 8"/>
          <p:cNvSpPr/>
          <p:nvPr/>
        </p:nvSpPr>
        <p:spPr>
          <a:xfrm>
            <a:off x="84582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global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458200" y="2423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85.7%</a:t>
            </a:r>
            <a:endParaRPr lang="en-US" sz="5200" dirty="0"/>
          </a:p>
        </p:txBody>
      </p:sp>
      <p:sp>
        <p:nvSpPr>
          <p:cNvPr id="13" name="Text 10"/>
          <p:cNvSpPr/>
          <p:nvPr/>
        </p:nvSpPr>
        <p:spPr>
          <a:xfrm>
            <a:off x="8458200" y="3429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pasan · 1 falla · 1 con observación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85800" y="46177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 el criterio del 80%,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la categoría de inyección y XSS queda por debajo del umbral por el defecto crítico de XSS almacenado (TC-27).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DE MAYOR SEVERIDAD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XSS almacenado (TC-27)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6766560" cy="2331720"/>
          </a:xfrm>
          <a:prstGeom prst="roundRect">
            <a:avLst>
              <a:gd name="adj" fmla="val 3922"/>
            </a:avLst>
          </a:prstGeom>
          <a:solidFill>
            <a:srgbClr val="16405F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031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0312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1031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D-08 · Bloqueante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560320"/>
            <a:ext cx="6263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almacena etiquetas &lt;script&gt; en las descripciones de pedidos sin sanitizar. El código queda guardado en la base de datos y se ejecuta en el navegador de cualquier usuario que visualice el pedido.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611880"/>
            <a:ext cx="6263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Reconocida por OWASP Top 10 (2021). Su corrección es inmediata e innegociable antes de cualquier despliegue.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1874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Fortalezas y otros hallazgos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2350008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2350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83880" y="22860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tokens JWT y control de acceso por roles correctos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0" y="2916936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0" y="2916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83880" y="28529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Resistente a inyección SQL (JPA/Hibernate parametrizado)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772400" y="3483864"/>
            <a:ext cx="292608" cy="292608"/>
          </a:xfrm>
          <a:prstGeom prst="ellipse">
            <a:avLst/>
          </a:prstGeom>
          <a:solidFill>
            <a:srgbClr val="E0851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34838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341985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D-09 · 404 expone el paquete Java interno (Major)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0" y="4050792"/>
            <a:ext cx="292608" cy="292608"/>
          </a:xfrm>
          <a:prstGeom prst="ellipse">
            <a:avLst/>
          </a:prstGeom>
          <a:solidFill>
            <a:srgbClr val="E0851E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4050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83880" y="398678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6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headers CSP y Strict-Transport-Security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85800" y="45720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global: 85.7% — supera el umbral, pero el XSS marca la prioridad #1 del informe.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RENDIMIENTO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Escenarios ejecutados con k6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789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00400"/>
                <a:gridCol w="2377440"/>
                <a:gridCol w="1371600"/>
                <a:gridCol w="146304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Éxito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masivo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VUs / 90s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masivo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VUs / 90s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pedidos (pocos)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VUs / 100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Listar pedidos (muchos)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VUs / 100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carga (login+orden)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VUs / 3min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carga (login+/me)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VUs / 3min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726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Estrés (rampa)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C6B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VUs / 2min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FA3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3F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A34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85800" y="54864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de respuesta: 400 ms.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en rojo (TC14, TC59) lo superan bajo carga sostenida — son hallazgos documentados, no fallos funcionales. 100% de éxito en todos los checks.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DE RESPUESTA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Latencia bajo carga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P90 / P95 reflejan el comportamiento real bajo concurrencia, más allá del promedio. El P95 representa el tiempo máximo que experimentó el 95% de los usuarios.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76200" dist="25400" dir="5400000">
              <a:srgbClr val="BBC9CE">
                <a:alpha val="4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" y="2606040"/>
            <a:ext cx="82296" cy="1417320"/>
          </a:xfrm>
          <a:prstGeom prst="rect">
            <a:avLst/>
          </a:prstGeom>
          <a:solidFill>
            <a:srgbClr val="E0851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1576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85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842 ms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68680" y="33558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TC14 · Registro masivo (P95)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6301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del cifrado bcrypt con 30 VUs sin pausa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72200" y="260604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76200" dist="25400" dir="5400000">
              <a:srgbClr val="BBC9CE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2606040"/>
            <a:ext cx="82296" cy="141732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71576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26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1 040 ms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355080" y="33558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TC59 · Login + perfil (P95)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36301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 del endpoint de auth bajo carga sostenida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42519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76200" dist="25400" dir="5400000">
              <a:srgbClr val="BBC9CE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251960"/>
            <a:ext cx="82296" cy="1417320"/>
          </a:xfrm>
          <a:prstGeom prst="rect">
            <a:avLst/>
          </a:prstGeom>
          <a:solidFill>
            <a:srgbClr val="3FA34D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3616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A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 ms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68680" y="5001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TC29 / TC30 · Consulta de pedidos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5276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lectura excepcionalmente rápidas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72200" y="4251960"/>
            <a:ext cx="53035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  <a:effectLst>
            <a:outerShdw sx="100000" sy="100000" kx="0" ky="0" algn="bl" rotWithShape="0" blurRad="76200" dist="25400" dir="5400000">
              <a:srgbClr val="BBC9CE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4251960"/>
            <a:ext cx="82296" cy="1417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355080" y="4361688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ms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6355080" y="5001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TC60 · Estrés con 200 VUs (P95)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52760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 gracias a la simplicidad del endpoint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5800" y="5897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2 de 7 escenarios superan el umbral de 400 ms — ambos bajo carga sostenida sin pausa entre peticiones.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DE RENDIMIENTO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Estable bajo carga extrema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1920240"/>
            <a:ext cx="4937760" cy="3383280"/>
          </a:xfrm>
          <a:prstGeom prst="roundRect">
            <a:avLst>
              <a:gd name="adj" fmla="val 2703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51460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3 843</a:t>
            </a:r>
            <a:endParaRPr lang="en-US" sz="76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peticiones / segundo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4206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D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TC60 · 200 VUs en rampa · 2 min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DF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461 442 checks · 0 errores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89320" y="205740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95681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éxito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63640" y="2304288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verificaciones de los siete escenarios, sin una sola falla registrada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300837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29077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caídas del servicio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263640" y="325526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respondió correctamente en todos los niveles de carga evaluados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89320" y="395935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8587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Lecturas &lt; 60 ms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263640" y="42062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endpoints de consulta de pedidos confirman la eficiencia de las lecturas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491032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809744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hallazgos Major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263640" y="515721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TC14 y TC59 superan 400 ms bajo carga sostenida — no son fallos funcionales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85800" y="5806440"/>
            <a:ext cx="10789920" cy="0"/>
          </a:xfrm>
          <a:prstGeom prst="line">
            <a:avLst/>
          </a:prstGeom>
          <a:noFill/>
          <a:ln w="12700">
            <a:solidFill>
              <a:srgbClr val="1640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demostró capacidad para operar bajo carga extrema sin degradación funcional ni pérdida de disponibilidad.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16405F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ENCONTRADOS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 defectos por severidad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según la escala de SonarQube. El módulo de CRUD de pedidos concentra la mayor cantidad de defectos (7 entre fallas y observaciones).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606040"/>
            <a:ext cx="2615184" cy="292608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606040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9B1B30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3108960"/>
            <a:ext cx="2615184" cy="365760"/>
          </a:xfrm>
          <a:prstGeom prst="rect">
            <a:avLst/>
          </a:prstGeom>
          <a:solidFill>
            <a:srgbClr val="9B1B30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651760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86968" y="3977640"/>
            <a:ext cx="22128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Edición/eliminación de pedidos ausente en la UI del usuario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19856" y="2606040"/>
            <a:ext cx="2615184" cy="292608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9856" y="2606040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D7263D"/>
          </a:solidFill>
          <a:ln/>
        </p:spPr>
      </p:sp>
      <p:sp>
        <p:nvSpPr>
          <p:cNvPr id="18" name="Shape 16"/>
          <p:cNvSpPr/>
          <p:nvPr/>
        </p:nvSpPr>
        <p:spPr>
          <a:xfrm>
            <a:off x="3419856" y="3108960"/>
            <a:ext cx="2615184" cy="36576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9" name="Text 17"/>
          <p:cNvSpPr/>
          <p:nvPr/>
        </p:nvSpPr>
        <p:spPr>
          <a:xfrm>
            <a:off x="3419856" y="2651760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3419856" y="35661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621024" y="3977640"/>
            <a:ext cx="22128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 almacenado (D-08 · TC-27)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53912" y="2606040"/>
            <a:ext cx="2615184" cy="292608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53912" y="2606040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E0851E"/>
          </a:solidFill>
          <a:ln/>
        </p:spPr>
      </p:sp>
      <p:sp>
        <p:nvSpPr>
          <p:cNvPr id="24" name="Shape 22"/>
          <p:cNvSpPr/>
          <p:nvPr/>
        </p:nvSpPr>
        <p:spPr>
          <a:xfrm>
            <a:off x="6153912" y="3108960"/>
            <a:ext cx="2615184" cy="365760"/>
          </a:xfrm>
          <a:prstGeom prst="rect">
            <a:avLst/>
          </a:prstGeom>
          <a:solidFill>
            <a:srgbClr val="E0851E"/>
          </a:solidFill>
          <a:ln/>
        </p:spPr>
      </p:sp>
      <p:sp>
        <p:nvSpPr>
          <p:cNvPr id="25" name="Text 23"/>
          <p:cNvSpPr/>
          <p:nvPr/>
        </p:nvSpPr>
        <p:spPr>
          <a:xfrm>
            <a:off x="6153912" y="2651760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6153912" y="35661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85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55080" y="3977640"/>
            <a:ext cx="22128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(×2), paginación admin, 404 expone backend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887968" y="2606040"/>
            <a:ext cx="2615184" cy="2926080"/>
          </a:xfrm>
          <a:prstGeom prst="roundRect">
            <a:avLst>
              <a:gd name="adj" fmla="val 349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87968" y="2606040"/>
            <a:ext cx="2615184" cy="868680"/>
          </a:xfrm>
          <a:prstGeom prst="roundRect">
            <a:avLst>
              <a:gd name="adj" fmla="val 10526"/>
            </a:avLst>
          </a:prstGeom>
          <a:solidFill>
            <a:srgbClr val="3FA34D"/>
          </a:solidFill>
          <a:ln/>
        </p:spPr>
      </p:sp>
      <p:sp>
        <p:nvSpPr>
          <p:cNvPr id="30" name="Shape 28"/>
          <p:cNvSpPr/>
          <p:nvPr/>
        </p:nvSpPr>
        <p:spPr>
          <a:xfrm>
            <a:off x="8887968" y="3108960"/>
            <a:ext cx="2615184" cy="365760"/>
          </a:xfrm>
          <a:prstGeom prst="rect">
            <a:avLst/>
          </a:prstGeom>
          <a:solidFill>
            <a:srgbClr val="3FA34D"/>
          </a:solidFill>
          <a:ln/>
        </p:spPr>
      </p:sp>
      <p:sp>
        <p:nvSpPr>
          <p:cNvPr id="31" name="Text 29"/>
          <p:cNvSpPr/>
          <p:nvPr/>
        </p:nvSpPr>
        <p:spPr>
          <a:xfrm>
            <a:off x="8887968" y="2651760"/>
            <a:ext cx="26151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8887968" y="3566160"/>
            <a:ext cx="2615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A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089136" y="3977640"/>
            <a:ext cx="221284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&lt; 6 caracteres aceptadas (D-01)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85800" y="5852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debilidades importantes a nivel funcional (CRUD) y de seguridad (XSS) que deben resolverse antes de la entrega.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16405F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4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 de acción propuesto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cumple el umbral del 80% en las tres categorías, pero el resultado global oculta diferencias de calidad entre módulos. Correcciones en tres niveles de prioridad: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514600"/>
            <a:ext cx="3529584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514600"/>
            <a:ext cx="3529584" cy="548640"/>
          </a:xfrm>
          <a:prstGeom prst="roundRect">
            <a:avLst>
              <a:gd name="adj" fmla="val 16667"/>
            </a:avLst>
          </a:prstGeom>
          <a:solidFill>
            <a:srgbClr val="D7263D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88920"/>
            <a:ext cx="3529584" cy="27432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514600"/>
            <a:ext cx="3529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ALTA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3337560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246120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XSS almacenado (D-08): sanitizar en backend y escapar en frontend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178808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087368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edición y eliminación de pedidos en la UI del usuario (D-02 a D-06)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5020056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4928616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son bloqueantes: deben resolverse antes de cualquier entrega a producción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34256" y="2514600"/>
            <a:ext cx="3529584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2514600"/>
            <a:ext cx="3529584" cy="548640"/>
          </a:xfrm>
          <a:prstGeom prst="roundRect">
            <a:avLst>
              <a:gd name="adj" fmla="val 16667"/>
            </a:avLst>
          </a:prstGeom>
          <a:solidFill>
            <a:srgbClr val="E0851E"/>
          </a:solidFill>
          <a:ln/>
        </p:spPr>
      </p:sp>
      <p:sp>
        <p:nvSpPr>
          <p:cNvPr id="22" name="Shape 20"/>
          <p:cNvSpPr/>
          <p:nvPr/>
        </p:nvSpPr>
        <p:spPr>
          <a:xfrm>
            <a:off x="4334256" y="2788920"/>
            <a:ext cx="3529584" cy="274320"/>
          </a:xfrm>
          <a:prstGeom prst="rect">
            <a:avLst/>
          </a:prstGeom>
          <a:solidFill>
            <a:srgbClr val="E0851E"/>
          </a:solidFill>
          <a:ln/>
        </p:spPr>
      </p:sp>
      <p:sp>
        <p:nvSpPr>
          <p:cNvPr id="23" name="Text 21"/>
          <p:cNvSpPr/>
          <p:nvPr/>
        </p:nvSpPr>
        <p:spPr>
          <a:xfrm>
            <a:off x="4334256" y="2514600"/>
            <a:ext cx="3529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MEDIA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62856" y="3337560"/>
            <a:ext cx="128016" cy="128016"/>
          </a:xfrm>
          <a:prstGeom prst="ellipse">
            <a:avLst/>
          </a:prstGeom>
          <a:solidFill>
            <a:srgbClr val="E0851E"/>
          </a:solidFill>
          <a:ln/>
        </p:spPr>
      </p:sp>
      <p:sp>
        <p:nvSpPr>
          <p:cNvPr id="25" name="Text 23"/>
          <p:cNvSpPr/>
          <p:nvPr/>
        </p:nvSpPr>
        <p:spPr>
          <a:xfrm>
            <a:off x="4791456" y="3246120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paginación en la vista del administrador (D-07)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62856" y="4178808"/>
            <a:ext cx="128016" cy="128016"/>
          </a:xfrm>
          <a:prstGeom prst="ellipse">
            <a:avLst/>
          </a:prstGeom>
          <a:solidFill>
            <a:srgbClr val="E0851E"/>
          </a:solidFill>
          <a:ln/>
        </p:spPr>
      </p:sp>
      <p:sp>
        <p:nvSpPr>
          <p:cNvPr id="27" name="Text 25"/>
          <p:cNvSpPr/>
          <p:nvPr/>
        </p:nvSpPr>
        <p:spPr>
          <a:xfrm>
            <a:off x="4791456" y="4087368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información interna del backend en errores 404 (D-09)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62856" y="5020056"/>
            <a:ext cx="128016" cy="128016"/>
          </a:xfrm>
          <a:prstGeom prst="ellipse">
            <a:avLst/>
          </a:prstGeom>
          <a:solidFill>
            <a:srgbClr val="E0851E"/>
          </a:solidFill>
          <a:ln/>
        </p:spPr>
      </p:sp>
      <p:sp>
        <p:nvSpPr>
          <p:cNvPr id="29" name="Text 27"/>
          <p:cNvSpPr/>
          <p:nvPr/>
        </p:nvSpPr>
        <p:spPr>
          <a:xfrm>
            <a:off x="4791456" y="4928616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rendimiento del flujo de auth bajo carga (D-10, D-11)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82712" y="2514600"/>
            <a:ext cx="3529584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82712" y="2514600"/>
            <a:ext cx="3529584" cy="5486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</p:sp>
      <p:sp>
        <p:nvSpPr>
          <p:cNvPr id="32" name="Shape 30"/>
          <p:cNvSpPr/>
          <p:nvPr/>
        </p:nvSpPr>
        <p:spPr>
          <a:xfrm>
            <a:off x="7982712" y="2788920"/>
            <a:ext cx="3529584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7982712" y="2514600"/>
            <a:ext cx="35295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 BAJA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8211312" y="333756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8439912" y="3246120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longitud mínima de contraseña en el registro (D-01)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211312" y="41788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8439912" y="4087368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Diálogos de confirmación en acciones destructivas (TC-33, TC-34)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211312" y="502005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8439912" y="4928616"/>
            <a:ext cx="288950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headers CSP y Strict-Transport-Security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713232"/>
            <a:ext cx="118872" cy="11887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86968" y="612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724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Recomendaciones del equipo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1945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828800" y="212140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proceso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828800" y="2523744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enfoque mixto: las pruebas manuales validan usabilidad y navegación; las automatizadas cubren escenarios repetitivos y de carga.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329184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5661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661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828800" y="349300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las herramientas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828800" y="3895344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y k6 fueron adecuados. Complementar con Selenium o Cypress para automatizar los casos funcionales hoy ejecutados manualmente.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66344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93776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37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828800" y="4864608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alcance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828800" y="5266944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en futuros ciclos pruebas de usabilidad y de compatibilidad entre navegadores para una visión más completa de la calidad.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355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· QA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778240" y="-1645920"/>
            <a:ext cx="5669280" cy="5669280"/>
          </a:xfrm>
          <a:prstGeom prst="ellipse">
            <a:avLst/>
          </a:prstGeom>
          <a:solidFill>
            <a:srgbClr val="16405F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3291840"/>
            <a:ext cx="3108960" cy="31089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0698480" y="4023360"/>
            <a:ext cx="1645920" cy="1645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124712"/>
            <a:ext cx="118872" cy="11887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10241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Listo para producción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tras dos correcciones clave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85800" y="32461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6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cumple los umbrales de calidad en las tres categorías, con autenticación y rendimiento sólidos. Antes del despliegue deben resolverse el XSS almacenado (D-08) y la gestión de pedidos desde la interfaz del usuario (D-02 a D-06).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4983480"/>
            <a:ext cx="7132320" cy="0"/>
          </a:xfrm>
          <a:prstGeom prst="line">
            <a:avLst/>
          </a:prstGeom>
          <a:noFill/>
          <a:ln w="12700">
            <a:solidFill>
              <a:srgbClr val="1640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Referencias: k6 (Grafeas Group, 2023) · OWASP Top 10 (2021) · SonarQube (SonarSource, 2023)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5715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2026-06-09T17:33:49Z</dcterms:created>
  <dcterms:modified xsi:type="dcterms:W3CDTF">2026-06-09T17:33:49Z</dcterms:modified>
</cp:coreProperties>
</file>